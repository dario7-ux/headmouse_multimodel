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8404800" cy="21602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0" cy="216027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EA043"/>
                </a:solidFill>
                <a:latin typeface="Segoe UI"/>
              </a:rPr>
              <a:t>ARQUITECTURA DE SOFTWARE EXACTA FOCUZVOZ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84F58"/>
                </a:solidFill>
                <a:latin typeface="Segoe UI"/>
              </a:rPr>
              <a:t>Monolítica Modular — Tecnologías, Clases Reales, y Flujo de Procesamiento en Tiempo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5943600" cy="16002000"/>
          </a:xfrm>
          <a:prstGeom prst="roundRect">
            <a:avLst/>
          </a:prstGeom>
          <a:solidFill>
            <a:srgbClr val="161B22"/>
          </a:solidFill>
          <a:ln w="508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8A6FF"/>
                </a:solidFill>
                <a:latin typeface="Segoe UI"/>
              </a:rPr>
              <a:t>📥 CAPA DE ENTRADA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5029200" cy="2011680"/>
          </a:xfrm>
          <a:prstGeom prst="roundRect">
            <a:avLst/>
          </a:prstGeom>
          <a:solidFill>
            <a:srgbClr val="1F2428"/>
          </a:solidFill>
          <a:ln w="381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31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D1D9"/>
                </a:solidFill>
                <a:latin typeface="Segoe UI"/>
              </a:rPr>
              <a:t>📷 Módulo: CameraManager</a:t>
            </a:r>
            <a:br/>
            <a:br/>
            <a:r>
              <a:t>• Tecnologías: OpenCV (cv2.VideoCapture)</a:t>
            </a:r>
            <a:br/>
            <a:r>
              <a:t>• Hilo dedicado: ThreadCameras</a:t>
            </a:r>
            <a:br/>
            <a:r>
              <a:t>• Frecuencia: Hasta 30/60 FPS</a:t>
            </a:r>
            <a:br/>
            <a:r>
              <a:t>• Proceso: Redimensionado dinámico, recorte de relación 4:3, modo Read-Only para MediaPipe.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7315200"/>
            <a:ext cx="5029200" cy="2011680"/>
          </a:xfrm>
          <a:prstGeom prst="roundRect">
            <a:avLst/>
          </a:prstGeom>
          <a:solidFill>
            <a:srgbClr val="1F2428"/>
          </a:solidFill>
          <a:ln w="381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7406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D1D9"/>
                </a:solidFill>
                <a:latin typeface="Segoe UI"/>
              </a:rPr>
              <a:t>🎤 Módulo: PyAudio Stream</a:t>
            </a:r>
            <a:br/>
            <a:br/>
            <a:r>
              <a:t>• Tecnologías: PyAudio (C++ Port)</a:t>
            </a:r>
            <a:br/>
            <a:r>
              <a:t>• Captura PCM 16-bit continuo</a:t>
            </a:r>
            <a:br/>
            <a:r>
              <a:t>• Frecuencia: 16000Hz (Vosk-compatible)</a:t>
            </a:r>
            <a:br/>
            <a:r>
              <a:t>• Bloques (Chunks): 2048 muestras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10789920"/>
            <a:ext cx="5029200" cy="2011680"/>
          </a:xfrm>
          <a:prstGeom prst="roundRect">
            <a:avLst/>
          </a:prstGeom>
          <a:solidFill>
            <a:srgbClr val="1F2428"/>
          </a:solidFill>
          <a:ln w="381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0881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D1D9"/>
                </a:solidFill>
                <a:latin typeface="Segoe UI"/>
              </a:rPr>
              <a:t>🖥️ Módulo: CustomTkinter GUI</a:t>
            </a:r>
            <a:br/>
            <a:br/>
            <a:r>
              <a:t>• Configuración dinámica en caliente</a:t>
            </a:r>
            <a:br/>
            <a:r>
              <a:t>• Monitoreo de estado (is_recording)</a:t>
            </a:r>
            <a:br/>
            <a:r>
              <a:t>• Telemetría de sesiones / clics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43200"/>
            <a:ext cx="14630400" cy="16002000"/>
          </a:xfrm>
          <a:prstGeom prst="roundRect">
            <a:avLst/>
          </a:prstGeom>
          <a:solidFill>
            <a:srgbClr val="161B22"/>
          </a:solidFill>
          <a:ln w="508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01752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A043"/>
                </a:solidFill>
                <a:latin typeface="Segoe UI"/>
              </a:rPr>
              <a:t>⚡ NÚCLEO MONOLÍTICO (FocuzVoz Core)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840480"/>
            <a:ext cx="13716000" cy="1097280"/>
          </a:xfrm>
          <a:prstGeom prst="roundRect">
            <a:avLst/>
          </a:prstGeom>
          <a:solidFill>
            <a:srgbClr val="21262D"/>
          </a:solidFill>
          <a:ln w="381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3977639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29922"/>
                </a:solidFill>
                <a:latin typeface="Segoe UI"/>
              </a:rPr>
              <a:t>🔄 Pipeline Principal (pipeline.py)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3891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B949E"/>
                </a:solidFill>
                <a:latin typeface="Segoe UI"/>
              </a:rPr>
              <a:t>• Bucle iterativo de fondo asíncrono (_run_loop) a ~15 FPS constantes (sleep ~66ms)</a:t>
            </a:r>
            <a:br/>
            <a:r>
              <a:t>• Orquesta sincronización entre Frame -&gt; Visión -&gt; Eventos -&gt;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5303520"/>
            <a:ext cx="13716000" cy="2286000"/>
          </a:xfrm>
          <a:prstGeom prst="roundRect">
            <a:avLst/>
          </a:prstGeom>
          <a:solidFill>
            <a:srgbClr val="21262D"/>
          </a:solidFill>
          <a:ln w="381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54864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29922"/>
                </a:solidFill>
                <a:latin typeface="Segoe UI"/>
              </a:rPr>
              <a:t>👁️ Analizador Facial (FaceMesh.py)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943600"/>
            <a:ext cx="1280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B949E"/>
                </a:solidFill>
                <a:latin typeface="Segoe UI"/>
              </a:rPr>
              <a:t>• Tecnología: MediaPipe (FaceLandmarker Task)</a:t>
            </a:r>
            <a:br/>
            <a:r>
              <a:t>• Proceso: Extrae 478 landmarks faciales y 52 Blendshapes en tiempo real.</a:t>
            </a:r>
            <a:br/>
            <a:r>
              <a:t>• Estabilizador (track_loc): Filtro One Euro Filter (reducción de Jitter).</a:t>
            </a:r>
            <a:br/>
            <a:r>
              <a:t>• Resultado: Retorna [blendshape_values] y (track_loc)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7955279"/>
            <a:ext cx="13716000" cy="3200400"/>
          </a:xfrm>
          <a:prstGeom prst="roundRect">
            <a:avLst/>
          </a:prstGeom>
          <a:solidFill>
            <a:srgbClr val="21262D"/>
          </a:solidFill>
          <a:ln w="381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81381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5149"/>
                </a:solidFill>
                <a:latin typeface="Segoe UI"/>
              </a:rPr>
              <a:t>⚙️ Gestor Lógico de Eventos (FacialEventManager.py)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8595360"/>
            <a:ext cx="12801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B949E"/>
                </a:solidFill>
                <a:latin typeface="Segoe UI"/>
              </a:rPr>
              <a:t>• Implementa patrón Singleton con Anti-Midas Touch incorporado.</a:t>
            </a:r>
            <a:br/>
            <a:r>
              <a:t>• Máquina de estados compleja por Gesto (is_active, active_frames).</a:t>
            </a:r>
            <a:br/>
            <a:r>
              <a:t>• Dwell Time: Tiempo mínimo de espera para confirmar acción intencional (ej. 150ms).</a:t>
            </a:r>
            <a:br/>
            <a:r>
              <a:t>• Cooldown: Tiempo de enfriamiento post-disparo para evitar spamming (ej. 350ms).</a:t>
            </a:r>
            <a:br/>
            <a:r>
              <a:t>• Estabilidad de Frames: Filtrado contra picos falsos en Blendshapes crudos.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11521440"/>
            <a:ext cx="13716000" cy="3474720"/>
          </a:xfrm>
          <a:prstGeom prst="roundRect">
            <a:avLst/>
          </a:prstGeom>
          <a:solidFill>
            <a:srgbClr val="21262D"/>
          </a:solidFill>
          <a:ln w="381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117043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C8CFF"/>
                </a:solidFill>
                <a:latin typeface="Segoe UI"/>
              </a:rPr>
              <a:t>🗣️ Procesador de Voz (VoiceController.py)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2161520"/>
            <a:ext cx="12801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B949E"/>
                </a:solidFill>
                <a:latin typeface="Segoe UI"/>
              </a:rPr>
              <a:t>• Tecnología: KaldiRecognizer + Vosk Model Offline (0.42 ES)</a:t>
            </a:r>
            <a:br/>
            <a:r>
              <a:t>• Noise Gate Adaptativo: Calcula Amplitud RMS de chunks binarios int16.</a:t>
            </a:r>
            <a:br/>
            <a:r>
              <a:t>• Threshold: Mapeo de sensibilidad UI (0-100) -&gt; límite de volumen (RMS).</a:t>
            </a:r>
            <a:br/>
            <a:r>
              <a:t>• Filtro Anti-Ruido: Envía silencios nulos (b'\x00') al modelo si RMS es bajo.</a:t>
            </a:r>
            <a:br/>
            <a:r>
              <a:t>• Auto-Type &amp; Comandos: Mapeo regex ligero ("abre word", "clic derecho").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5361920"/>
            <a:ext cx="13716000" cy="2926080"/>
          </a:xfrm>
          <a:prstGeom prst="roundRect">
            <a:avLst/>
          </a:prstGeom>
          <a:solidFill>
            <a:srgbClr val="161B22"/>
          </a:solidFill>
          <a:ln w="381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15544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84F58"/>
                </a:solidFill>
                <a:latin typeface="Segoe UI"/>
              </a:rPr>
              <a:t>💾 Almacenamiento &amp; Telemetría Científica (DatabaseManager)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16002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B949E"/>
                </a:solidFill>
                <a:latin typeface="Segoe UI"/>
              </a:rPr>
              <a:t>• SQLite DB: Guardado de perfiles dinámicos y métricas de investigación (Research Analytics).</a:t>
            </a:r>
            <a:br/>
            <a:r>
              <a:t>• log_research_event(): Registra clics, éxito de dictado de voz, duraciones, y ubicación (x,y).</a:t>
            </a:r>
            <a:br/>
            <a:r>
              <a:t>• Singleton_meta: Garantiza concurrencia segura sin data-races entre hilos de captura.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0" y="2743200"/>
            <a:ext cx="11887200" cy="16002000"/>
          </a:xfrm>
          <a:prstGeom prst="roundRect">
            <a:avLst/>
          </a:prstGeom>
          <a:solidFill>
            <a:srgbClr val="161B22"/>
          </a:solidFill>
          <a:ln w="508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88800" y="3017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29922"/>
                </a:solidFill>
                <a:latin typeface="Segoe UI"/>
              </a:rPr>
              <a:t>🚀 CAPA DE EJECUCIÓN DEL SISTEMA OPERATIVO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0" y="4114800"/>
            <a:ext cx="10058400" cy="2743200"/>
          </a:xfrm>
          <a:prstGeom prst="roundRect">
            <a:avLst/>
          </a:prstGeom>
          <a:solidFill>
            <a:srgbClr val="1F2428"/>
          </a:solidFill>
          <a:ln w="381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94640" y="42062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9D1D9"/>
                </a:solidFill>
                <a:latin typeface="Segoe UI"/>
              </a:rPr>
              <a:t>🖱️ Movimiento de Mouse (MouseController.py)</a:t>
            </a:r>
            <a:br/>
            <a:br/>
            <a:r>
              <a:t>• Tecnologías: win32api, PyDirectInput</a:t>
            </a:r>
            <a:br/>
            <a:r>
              <a:t>• Lógica: Obtiene el monitor actual (x,y), transforma track_loc usando dimensiones absolutas.</a:t>
            </a:r>
            <a:br/>
            <a:r>
              <a:t>• Cuentas con Threading Lock y Smooth Moving.</a:t>
            </a:r>
            <a:br/>
            <a:r>
              <a:t>• Soporte de "Pausa" temporal de captura de cámara.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0" y="7315200"/>
            <a:ext cx="10058400" cy="2926080"/>
          </a:xfrm>
          <a:prstGeom prst="roundRect">
            <a:avLst/>
          </a:prstGeom>
          <a:solidFill>
            <a:srgbClr val="1F2428"/>
          </a:solidFill>
          <a:ln w="381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94640" y="740664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9D1D9"/>
                </a:solidFill>
                <a:latin typeface="Segoe UI"/>
              </a:rPr>
              <a:t>⌨️ Inyector de Teclas/Clics (Keybinder.py)</a:t>
            </a:r>
            <a:br/>
            <a:br/>
            <a:r>
              <a:t>• Tecnologías: pyautogui + PyDirectInput (DirectX fallback)</a:t>
            </a:r>
            <a:br/>
            <a:r>
              <a:t>• Combina bindings: Mouse (clics) y Keyboard (letras).</a:t>
            </a:r>
            <a:br/>
            <a:r>
              <a:t>• Modos soportados: 'single' (clic único) y 'hold' (mantener apretado el clic o tecla).</a:t>
            </a:r>
            <a:br/>
            <a:r>
              <a:t>• Llama internamente a DatabaseManager log_research_event.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00" y="10789920"/>
            <a:ext cx="10058400" cy="2286000"/>
          </a:xfrm>
          <a:prstGeom prst="roundRect">
            <a:avLst/>
          </a:prstGeom>
          <a:solidFill>
            <a:srgbClr val="1F2428"/>
          </a:solidFill>
          <a:ln w="381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94640" y="10881360"/>
            <a:ext cx="9875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9D1D9"/>
                </a:solidFill>
                <a:latin typeface="Segoe UI"/>
              </a:rPr>
              <a:t>✍️ Dictado de Voz (pynput)</a:t>
            </a:r>
            <a:br/>
            <a:br/>
            <a:r>
              <a:t>• Inyector: pynput.keyboard.Controller()</a:t>
            </a:r>
            <a:br/>
            <a:r>
              <a:t>• Ejecuta type() char por char para inyectar frases reconocidas desde VoiceController al input de usuario enfocado.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0" y="13533120"/>
            <a:ext cx="10058400" cy="2377440"/>
          </a:xfrm>
          <a:prstGeom prst="roundRect">
            <a:avLst/>
          </a:prstGeom>
          <a:solidFill>
            <a:srgbClr val="1F2428"/>
          </a:solidFill>
          <a:ln w="381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94640" y="13624560"/>
            <a:ext cx="9875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9D1D9"/>
                </a:solidFill>
                <a:latin typeface="Segoe UI"/>
              </a:rPr>
              <a:t>🔊 Retorno Auditivo (VoiceController -&gt; TTS_Thread)</a:t>
            </a:r>
            <a:br/>
            <a:br/>
            <a:r>
              <a:t>• Tecnologías: pyttsx3, pythoncom.CoInitialize()</a:t>
            </a:r>
            <a:br/>
            <a:r>
              <a:t>• Evita congelamientos de Windows mediante cola asíncrona de mensajes TTS.</a:t>
            </a:r>
            <a:br/>
            <a:r>
              <a:t>• Confirmación audible: "Clic Izquierdo", "Escritura activada".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400800" y="4389120"/>
            <a:ext cx="2286000" cy="365760"/>
          </a:xfrm>
          <a:prstGeom prst="line">
            <a:avLst/>
          </a:prstGeom>
          <a:ln w="76200">
            <a:solidFill>
              <a:srgbClr val="48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8A6FF"/>
                </a:solidFill>
                <a:latin typeface="Segoe UI"/>
              </a:rPr>
              <a:t>get_raw_frame()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0" y="8412480"/>
            <a:ext cx="2286000" cy="3931920"/>
          </a:xfrm>
          <a:prstGeom prst="line">
            <a:avLst/>
          </a:prstGeom>
          <a:ln w="76200">
            <a:solidFill>
              <a:srgbClr val="48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83680" y="10058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8A6FF"/>
                </a:solidFill>
                <a:latin typeface="Segoe UI"/>
              </a:rPr>
              <a:t>pyaudio.read(2048)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00800" y="11887200"/>
            <a:ext cx="2286000" cy="4114800"/>
          </a:xfrm>
          <a:prstGeom prst="line">
            <a:avLst/>
          </a:prstGeom>
          <a:ln w="76200">
            <a:solidFill>
              <a:srgbClr val="48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0" y="1371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8A6FF"/>
                </a:solidFill>
                <a:latin typeface="Segoe UI"/>
              </a:rPr>
              <a:t>Config / Sessions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5544800" y="4937760"/>
            <a:ext cx="0" cy="365760"/>
          </a:xfrm>
          <a:prstGeom prst="line">
            <a:avLst/>
          </a:prstGeom>
          <a:ln w="63500">
            <a:solidFill>
              <a:srgbClr val="D29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5544800" y="7589520"/>
            <a:ext cx="0" cy="365759"/>
          </a:xfrm>
          <a:prstGeom prst="line">
            <a:avLst/>
          </a:prstGeom>
          <a:ln w="63500">
            <a:solidFill>
              <a:srgbClr val="D29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5819120" y="7680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1D9"/>
                </a:solidFill>
                <a:latin typeface="Segoe UI"/>
              </a:rPr>
              <a:t>blendshape_values[]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22402800" y="5486400"/>
            <a:ext cx="3200400" cy="4114800"/>
          </a:xfrm>
          <a:prstGeom prst="line">
            <a:avLst/>
          </a:prstGeom>
          <a:ln w="76200">
            <a:solidFill>
              <a:srgbClr val="F8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2402800" y="8686800"/>
            <a:ext cx="3200400" cy="914400"/>
          </a:xfrm>
          <a:prstGeom prst="line">
            <a:avLst/>
          </a:prstGeom>
          <a:ln w="76200">
            <a:solidFill>
              <a:srgbClr val="F8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2860000" y="7772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5149"/>
                </a:solidFill>
                <a:latin typeface="Segoe UI"/>
              </a:rPr>
              <a:t>act() triggers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22402800" y="11887200"/>
            <a:ext cx="3200400" cy="914400"/>
          </a:xfrm>
          <a:prstGeom prst="line">
            <a:avLst/>
          </a:prstGeom>
          <a:ln w="76200">
            <a:solidFill>
              <a:srgbClr val="B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2402800" y="12801600"/>
            <a:ext cx="3200400" cy="1828800"/>
          </a:xfrm>
          <a:prstGeom prst="line">
            <a:avLst/>
          </a:prstGeom>
          <a:ln w="76200">
            <a:solidFill>
              <a:srgbClr val="B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5544800" y="14996159"/>
            <a:ext cx="0" cy="365761"/>
          </a:xfrm>
          <a:prstGeom prst="line">
            <a:avLst/>
          </a:prstGeom>
          <a:ln w="76200">
            <a:solidFill>
              <a:srgbClr val="48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5819120" y="1508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84F58"/>
                </a:solidFill>
                <a:latin typeface="Segoe UI"/>
              </a:rPr>
              <a:t>SQL logs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21031200"/>
            <a:ext cx="38404800" cy="5486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21122640"/>
            <a:ext cx="3657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117"/>
                </a:solidFill>
                <a:latin typeface="Segoe UI"/>
              </a:rPr>
              <a:t>Flujo: [ ThreadCameras / PyAudio ] ➜ [ Pipeline 15FPS / Filtro RMS ] ➜ [ MediaPipe / FacialEventManager / Vosk ] ➜ [ win32api / pyautogui / pyttsx3 ]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