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8404800" cy="21602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0" cy="2160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3657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Segoe UI"/>
              </a:rPr>
              <a:t>ARQUITECTURA DE SOFTWARE EXACTA FOCUZVOZ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888888"/>
                </a:solidFill>
                <a:latin typeface="Segoe UI"/>
              </a:rPr>
              <a:t>Algoritmos, Filtros y Flujo de Procesamiento (Diagrama Técnico B/N)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5943600" cy="16002000"/>
          </a:xfrm>
          <a:prstGeom prst="roundRect">
            <a:avLst/>
          </a:prstGeom>
          <a:solidFill>
            <a:srgbClr val="0A0A0A"/>
          </a:solidFill>
          <a:ln w="508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Segoe UI"/>
              </a:rPr>
              <a:t>📥 CAPA DE ENTRADA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5029200" cy="2011680"/>
          </a:xfrm>
          <a:prstGeom prst="roundRect">
            <a:avLst/>
          </a:prstGeom>
          <a:solidFill>
            <a:srgbClr val="1C1C1C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3977639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📷 Módulo: CameraManager</a:t>
            </a:r>
            <a:br/>
            <a:br/>
            <a:r>
              <a:t>• Tecnologías: OpenCV (cv2.VideoCapture)</a:t>
            </a:r>
            <a:br/>
            <a:r>
              <a:t>• Hilo dedicado: ThreadCameras</a:t>
            </a:r>
            <a:br/>
            <a:r>
              <a:t>• Filtro de Entrada: Redimensionado a relación 4:3 con recorte (Trim Width/Height)</a:t>
            </a:r>
            <a:br/>
            <a:r>
              <a:t>• Proceso: frame.flags.writeable = False (Optimización de memoria).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7315200"/>
            <a:ext cx="5029200" cy="2011680"/>
          </a:xfrm>
          <a:prstGeom prst="roundRect">
            <a:avLst/>
          </a:prstGeom>
          <a:solidFill>
            <a:srgbClr val="1C1C1C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74523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🎤 Módulo: PyAudio Stream</a:t>
            </a:r>
            <a:br/>
            <a:br/>
            <a:r>
              <a:t>• Tecnologías: PyAudio (C++ Port)</a:t>
            </a:r>
            <a:br/>
            <a:r>
              <a:t>• Captura PCM 16-bit continuo</a:t>
            </a:r>
            <a:br/>
            <a:r>
              <a:t>• Frecuencia: 16000Hz</a:t>
            </a:r>
            <a:br/>
            <a:r>
              <a:t>• Buffer: 2048 frames_per_buffer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10789920"/>
            <a:ext cx="5029200" cy="2011680"/>
          </a:xfrm>
          <a:prstGeom prst="roundRect">
            <a:avLst/>
          </a:prstGeom>
          <a:solidFill>
            <a:srgbClr val="1C1C1C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10927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🖥️ Módulo: CustomTkinter GUI</a:t>
            </a:r>
            <a:br/>
            <a:br/>
            <a:r>
              <a:t>• Ingesta asíncrona de configuraciones</a:t>
            </a:r>
            <a:br/>
            <a:r>
              <a:t>• Mapeo de Umbrales de Sensibilidad en tiempo real a ConfigManager.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743200"/>
            <a:ext cx="14630400" cy="16002000"/>
          </a:xfrm>
          <a:prstGeom prst="roundRect">
            <a:avLst/>
          </a:prstGeom>
          <a:solidFill>
            <a:srgbClr val="0A0A0A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01752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⚡ NÚCLEO MONOLÍTICO (FocuzVoz Core)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3840480"/>
            <a:ext cx="13716000" cy="1097280"/>
          </a:xfrm>
          <a:prstGeom prst="roundRect">
            <a:avLst/>
          </a:prstGeom>
          <a:solidFill>
            <a:srgbClr val="151515"/>
          </a:solidFill>
          <a:ln w="381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3977639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🔄 Pipeline Principal (pipeline.py)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3891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latin typeface="Segoe UI"/>
              </a:rPr>
              <a:t>• Bucle orquestador. ALGORITMO: Control de FPS por Sleep Delta.</a:t>
            </a:r>
            <a:br/>
            <a:r>
              <a:t>• Mantiene una carga de CPU controlada iterando asíncronamente (sleep ~0.066s).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5303520"/>
            <a:ext cx="13716000" cy="2377440"/>
          </a:xfrm>
          <a:prstGeom prst="roundRect">
            <a:avLst/>
          </a:prstGeom>
          <a:solidFill>
            <a:srgbClr val="151515"/>
          </a:solidFill>
          <a:ln w="381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54864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👁️ Analizador Facial (FaceMesh.py)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5943600"/>
            <a:ext cx="1280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CCCC"/>
                </a:solidFill>
                <a:latin typeface="Segoe UI"/>
              </a:rPr>
              <a:t>• ALGORITMO SVD (Descomposición en Valores Singulares): np.linalg.svd sobre M[:3, :3] para extraer matriz de rotación R y mapear pitch/yaw/roll a vector 2D (track_loc).</a:t>
            </a:r>
            <a:br/>
            <a:r>
              <a:t>• FILTRO DE SUAVIZADO (Smooth Kernel): Se aplica convolución a un buffer circular (np.roll) de 100 blendshapes para mitigar micro-fluctuaciones (jitter).</a:t>
            </a:r>
            <a:br/>
            <a:r>
              <a:t>• Tarea Principal: MediaPipe detect_async para 478 landmarks y 52 Blendshapes.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8138160"/>
            <a:ext cx="13716000" cy="2926080"/>
          </a:xfrm>
          <a:prstGeom prst="roundRect">
            <a:avLst/>
          </a:prstGeom>
          <a:solidFill>
            <a:srgbClr val="151515"/>
          </a:solidFill>
          <a:ln w="381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83210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⚙️ Gestor Lógico de Eventos (FacialEventManager.py)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8778240"/>
            <a:ext cx="12801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CCCC"/>
                </a:solidFill>
                <a:latin typeface="Segoe UI"/>
              </a:rPr>
              <a:t>• MÁQUINA DE ESTADOS FINITOS (Anti-Midas Touch):</a:t>
            </a:r>
            <a:br/>
            <a:r>
              <a:t>  1. Filtro de Estabilidad: Requiere N frames por encima del Threshold para "active_frames".</a:t>
            </a:r>
            <a:br/>
            <a:r>
              <a:t>  2. Filtro Dwell Time: Cronometra "activation_start_time". Acción bloqueada hasta T &gt; 150ms.</a:t>
            </a:r>
            <a:br/>
            <a:r>
              <a:t>  3. Filtro Cooldown: "last_trigger_time". Impide re-ejecución hasta T &gt; 350ms.</a:t>
            </a:r>
            <a:br/>
            <a:r>
              <a:t>• Previene clics parásitos o activaciones involuntarias.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11521440"/>
            <a:ext cx="13716000" cy="3474720"/>
          </a:xfrm>
          <a:prstGeom prst="roundRect">
            <a:avLst/>
          </a:prstGeom>
          <a:solidFill>
            <a:srgbClr val="151515"/>
          </a:solidFill>
          <a:ln w="381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117043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🗣️ Procesador de Voz (VoiceController.py)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2161520"/>
            <a:ext cx="12801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CCCC"/>
                </a:solidFill>
                <a:latin typeface="Segoe UI"/>
              </a:rPr>
              <a:t>• ALGORITMO DE PUERTA DE RUIDO (Noise Gate RMS):</a:t>
            </a:r>
            <a:br/>
            <a:r>
              <a:t>  1. Convierte bytes PCM en np.int16. Calcula RMS (Root Mean Square) como amplitud real.</a:t>
            </a:r>
            <a:br/>
            <a:r>
              <a:t>  2. Threshold Dinámico: Mapea UI (0-100) -&gt; (100-sens)*10. </a:t>
            </a:r>
            <a:br/>
            <a:r>
              <a:t>  3. Hangover / Sostenido: Mantiene puerta abierta por 4 chunks (~512ms) tras silencios.</a:t>
            </a:r>
            <a:br/>
            <a:r>
              <a:t>  4. Filtro Hard Mute: Inyecta ceros (b'\x00') a Vosk si puerta está cerrada.</a:t>
            </a:r>
            <a:br/>
            <a:r>
              <a:t>• MOTOR VOSK (KaldiRecognizer): STT fuera de línea. Parsing Regex de frases.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15453359"/>
            <a:ext cx="13716000" cy="2834640"/>
          </a:xfrm>
          <a:prstGeom prst="roundRect">
            <a:avLst/>
          </a:prstGeom>
          <a:solidFill>
            <a:srgbClr val="0A0A0A"/>
          </a:solidFill>
          <a:ln w="381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156362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💾 Persistencia (DatabaseManager.py)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1609344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CCCC"/>
                </a:solidFill>
                <a:latin typeface="Segoe UI"/>
              </a:rPr>
              <a:t>• Transacciones atómicas SQLite (PRAGMA foreign_keys=ON).</a:t>
            </a:r>
            <a:br/>
            <a:r>
              <a:t>• log_research_event(): Consolida eventos asíncronos (clics de cámara, dictados de voz)</a:t>
            </a:r>
            <a:br/>
            <a:r>
              <a:t>  en un log unificado garantizando la consistencia por sesión (Singleton Thread-safe).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00" y="2743200"/>
            <a:ext cx="11887200" cy="16002000"/>
          </a:xfrm>
          <a:prstGeom prst="roundRect">
            <a:avLst/>
          </a:prstGeom>
          <a:solidFill>
            <a:srgbClr val="0A0A0A"/>
          </a:solidFill>
          <a:ln w="508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688800" y="30175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Segoe UI"/>
              </a:rPr>
              <a:t>🚀 EJECUCIÓN (OS LAYER)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0" y="4114800"/>
            <a:ext cx="10058400" cy="2743200"/>
          </a:xfrm>
          <a:prstGeom prst="roundRect">
            <a:avLst/>
          </a:prstGeom>
          <a:solidFill>
            <a:srgbClr val="1C1C1C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740360" y="4251960"/>
            <a:ext cx="9784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🖱️ Mouse Controller</a:t>
            </a:r>
            <a:br/>
            <a:br/>
            <a:r>
              <a:t>• ALGORITMO DE ESCALADO MULTIMONITOR: win32api.EnumDisplayMonitors.</a:t>
            </a:r>
            <a:br/>
            <a:r>
              <a:t>Mapea el vector [x, y] normalizado al espacio absoluto del monitor actual.</a:t>
            </a:r>
            <a:br/>
            <a:r>
              <a:t>• Librería de Inyección: PyDirectInput (DirectX bypass).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03200" y="7315200"/>
            <a:ext cx="10058400" cy="2926080"/>
          </a:xfrm>
          <a:prstGeom prst="roundRect">
            <a:avLst/>
          </a:prstGeom>
          <a:solidFill>
            <a:srgbClr val="1C1C1C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740360" y="7452360"/>
            <a:ext cx="9784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⌨️ Keybinder</a:t>
            </a:r>
            <a:br/>
            <a:br/>
            <a:r>
              <a:t>• Mapeo Hash de Diccionarios O(1): Cruza shape_names (ej. mouthPucker) con tuple (device, action, thres, mode).</a:t>
            </a:r>
            <a:br/>
            <a:r>
              <a:t>• Inyección dual: Intenta pyautogui.press, y fallback a PyDirectInput para evitar bloqueos del SO.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603200" y="10789920"/>
            <a:ext cx="10058400" cy="2286000"/>
          </a:xfrm>
          <a:prstGeom prst="roundRect">
            <a:avLst/>
          </a:prstGeom>
          <a:solidFill>
            <a:srgbClr val="1C1C1C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740360" y="1092708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✍️ Dictado de Voz (pynput)</a:t>
            </a:r>
            <a:br/>
            <a:br/>
            <a:r>
              <a:t>• Inyector: pynput.keyboard.Controller()</a:t>
            </a:r>
            <a:br/>
            <a:r>
              <a:t>• Bucle for char in text: type(char).</a:t>
            </a:r>
            <a:br/>
            <a:r>
              <a:t>• ALGORITMO BORRADO: Controla longitud previa (last_typed_len) e inyecta Backspaces consecutivos.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00" y="13533120"/>
            <a:ext cx="10058400" cy="2377440"/>
          </a:xfrm>
          <a:prstGeom prst="roundRect">
            <a:avLst/>
          </a:prstGeom>
          <a:solidFill>
            <a:srgbClr val="1C1C1C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740360" y="13670280"/>
            <a:ext cx="9784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🔊 TTS Asíncrono</a:t>
            </a:r>
            <a:br/>
            <a:br/>
            <a:r>
              <a:t>• ALGORITMO ANTI-DEADLOCK: Usa una Queue.queue con pythoncom.CoInitialize() en un Thread dedicado para que el Engine SAPI5 de Windows no colapse el hilo principal del monolito.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858000" y="4389120"/>
            <a:ext cx="1828800" cy="45720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67512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Segoe UI"/>
              </a:rPr>
              <a:t>Envia Frames</a:t>
            </a:r>
            <a:br/>
            <a:r>
              <a:t>(ndarray [w,h,3])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58000" y="8321040"/>
            <a:ext cx="1828800" cy="493776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675120" y="100584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Segoe UI"/>
              </a:rPr>
              <a:t>Flujo de Audio</a:t>
            </a:r>
            <a:br/>
            <a:r>
              <a:t>(Buffer PCM crudo)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5544800" y="4937760"/>
            <a:ext cx="0" cy="36576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572768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8888"/>
                </a:solidFill>
                <a:latin typeface="Segoe UI"/>
              </a:rPr>
              <a:t>Traspaso de Frame por ref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5544800" y="7680960"/>
            <a:ext cx="0" cy="45720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5727680" y="7772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Entrega Vector 52D (Blendshapes Suavizados)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22402800" y="5486400"/>
            <a:ext cx="3200400" cy="411480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2402800" y="8778240"/>
            <a:ext cx="3200400" cy="82296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2677120" y="7680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SI Dwell &amp; Cooldown pasan:</a:t>
            </a:r>
            <a:br/>
            <a:r>
              <a:t>Dispara Evento Boolean (True)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22402800" y="11887200"/>
            <a:ext cx="3200400" cy="137160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2402800" y="13258800"/>
            <a:ext cx="3200400" cy="146304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2677120" y="12527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SI RMS supera Threshold:</a:t>
            </a:r>
            <a:br/>
            <a:r>
              <a:t>Envia String ("clic", "texto")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15544800" y="14996159"/>
            <a:ext cx="0" cy="45720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5727680" y="1508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8888"/>
                </a:solidFill>
                <a:latin typeface="Segoe UI"/>
              </a:rPr>
              <a:t>log_research_event(x,y,time)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21031200"/>
            <a:ext cx="38404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21122640"/>
            <a:ext cx="3657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Segoe UI"/>
              </a:rPr>
              <a:t>LA DIRECCIÓN DEL FLUJO VA DE IZQUIERDA (Captura Física) ➜ AL CENTRO (Filtrado Algorítmico / Matemático) ➜ A LA DERECHA (Inyección a nivel Sistema Operativo)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