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194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9144000" cy="9144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11111"/>
                </a:solidFill>
                <a:latin typeface="Segoe UI"/>
              </a:rPr>
              <a:t>FocuzVoz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Segoe UI"/>
              </a:rPr>
              <a:t>Arquitectura Estructural y Flujo de Procesamiento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2743200" cy="18288"/>
          </a:xfrm>
          <a:prstGeom prst="round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B2B2B"/>
                </a:solidFill>
                <a:latin typeface="Segoe UI"/>
              </a:rPr>
              <a:t>ESTRUCTURA MODULAR (Monolito por Capas)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8229600" cy="1828800"/>
          </a:xfrm>
          <a:prstGeom prst="roundRect">
            <a:avLst/>
          </a:prstGeom>
          <a:solidFill>
            <a:srgbClr val="E9ECEF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111"/>
                </a:solidFill>
                <a:latin typeface="Segoe UI"/>
              </a:rPr>
              <a:t>CAPA DE PRESENTACIÓN (UI &amp; Estado)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2286000" cy="1005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36392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🖥️ Interfaz</a:t>
            </a:r>
            <a:br/>
            <a:r>
              <a:t>src/gui/main_gui.py</a:t>
            </a:r>
            <a:br/>
            <a:r>
              <a:t>Configuración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743200"/>
            <a:ext cx="2286000" cy="1005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136392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🕹️ Overlay</a:t>
            </a:r>
            <a:br/>
            <a:r>
              <a:t>src/gui/bot_overlay.py</a:t>
            </a:r>
            <a:br/>
            <a:r>
              <a:t>Feedback Visual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743200"/>
            <a:ext cx="2286000" cy="10058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136392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⚙️ Gestor</a:t>
            </a:r>
            <a:br/>
            <a:r>
              <a:t>src/config_manager.py</a:t>
            </a:r>
            <a:br/>
            <a:r>
              <a:t>Estado Global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4023360"/>
            <a:ext cx="0" cy="731520"/>
          </a:xfrm>
          <a:prstGeom prst="line">
            <a:avLst/>
          </a:prstGeom>
          <a:ln w="381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88720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33333"/>
                </a:solidFill>
                <a:latin typeface="Segoe UI"/>
              </a:rPr>
              <a:t>Actualización</a:t>
            </a:r>
            <a:br/>
            <a:r>
              <a:t>de Config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126480" y="4023360"/>
            <a:ext cx="0" cy="731520"/>
          </a:xfrm>
          <a:prstGeom prst="line">
            <a:avLst/>
          </a:prstGeom>
          <a:ln w="381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09360" y="4160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Segoe UI"/>
              </a:rPr>
              <a:t>Feedback</a:t>
            </a:r>
            <a:br/>
            <a:r>
              <a:t>al Usuario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54880"/>
            <a:ext cx="8229600" cy="2926080"/>
          </a:xfrm>
          <a:prstGeom prst="roundRect">
            <a:avLst/>
          </a:prstGeom>
          <a:solidFill>
            <a:srgbClr val="E9ECEF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111"/>
                </a:solidFill>
                <a:latin typeface="Segoe UI"/>
              </a:rPr>
              <a:t>CAPA DE LÓGICA DE NEGOCIO Y CONTROLADORES (Core)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94960"/>
            <a:ext cx="2286000" cy="10972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833872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👁️ Módulo Visión</a:t>
            </a:r>
            <a:br/>
            <a:r>
              <a:t>src/camera_manager.py</a:t>
            </a:r>
            <a:br/>
            <a:r>
              <a:t>src/detectors/facemesh.py</a:t>
            </a:r>
            <a:br/>
            <a:r>
              <a:t>Blendshapes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5394960"/>
            <a:ext cx="2286000" cy="10972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5833872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🧠 Gestor Eventos</a:t>
            </a:r>
            <a:br/>
            <a:r>
              <a:t>src/controllers/facial_event_manager.py</a:t>
            </a:r>
            <a:br/>
            <a:r>
              <a:t>Dwell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5394960"/>
            <a:ext cx="2286000" cy="10972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5833872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🎙️ Módulo Voz</a:t>
            </a:r>
            <a:br/>
            <a:r>
              <a:t>src/controllers/voice_controller.py</a:t>
            </a:r>
            <a:br/>
            <a:r>
              <a:t>Reconocimiento Vosk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6720840"/>
            <a:ext cx="5486400" cy="7315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6976872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🔄 Filtro y Orquestación</a:t>
            </a:r>
            <a:br/>
            <a:r>
              <a:t>src/utils/one_euro_filter.py (Suavizado) | src/pipeline.py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828800" y="7680960"/>
            <a:ext cx="0" cy="1097280"/>
          </a:xfrm>
          <a:prstGeom prst="line">
            <a:avLst/>
          </a:prstGeom>
          <a:ln w="3810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5760" y="8046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Segoe UI"/>
              </a:rPr>
              <a:t>Frames Video</a:t>
            </a:r>
            <a:br/>
            <a:r>
              <a:t>&amp; Audio PCM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0" y="7680960"/>
            <a:ext cx="0" cy="1097280"/>
          </a:xfrm>
          <a:prstGeom prst="line">
            <a:avLst/>
          </a:prstGeom>
          <a:ln w="381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754880" y="8046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Segoe UI"/>
              </a:rPr>
              <a:t>Consultas y Logs</a:t>
            </a:r>
            <a:br/>
            <a:r>
              <a:t>focuzvoz.db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15200" y="7680960"/>
            <a:ext cx="0" cy="1097280"/>
          </a:xfrm>
          <a:prstGeom prst="line">
            <a:avLst/>
          </a:prstGeom>
          <a:ln w="38100">
            <a:solidFill>
              <a:srgbClr val="2B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498079" y="8046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Segoe UI"/>
              </a:rPr>
              <a:t>Comandos al</a:t>
            </a:r>
            <a:br/>
            <a:r>
              <a:t>Sistema Operativo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8778240"/>
            <a:ext cx="8229600" cy="1645920"/>
          </a:xfrm>
          <a:prstGeom prst="roundRect">
            <a:avLst/>
          </a:prstGeom>
          <a:solidFill>
            <a:srgbClr val="E9ECEF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8915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111"/>
                </a:solidFill>
                <a:latin typeface="Segoe UI"/>
              </a:rPr>
              <a:t>CAPA DE INFRAESTRUCTURA (I/O, SO, Datos)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9326880"/>
            <a:ext cx="2286000" cy="9144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9674352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📥 Entradas HW</a:t>
            </a:r>
            <a:br/>
            <a:r>
              <a:t>OpenCV (Video)</a:t>
            </a:r>
            <a:br/>
            <a:r>
              <a:t>PyAudio (Mic)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9326880"/>
            <a:ext cx="2286000" cy="9144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9674352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💾 Persistencia</a:t>
            </a:r>
            <a:br/>
            <a:r>
              <a:t>src/utils/database.py</a:t>
            </a:r>
            <a:br/>
            <a:r>
              <a:t>SQLite3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9326880"/>
            <a:ext cx="2286000" cy="9144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9674352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Segoe UI"/>
              </a:rPr>
              <a:t>📤 Salidas OS</a:t>
            </a:r>
            <a:br/>
            <a:r>
              <a:t>mouse_controller.py</a:t>
            </a:r>
            <a:br/>
            <a:r>
              <a:t>keybinder.py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10789920"/>
            <a:ext cx="8229600" cy="18288"/>
          </a:xfrm>
          <a:prstGeom prst="round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11155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B2B2B"/>
                </a:solidFill>
                <a:latin typeface="Segoe UI"/>
              </a:rPr>
              <a:t>PIPELINE DE EJECUCIÓN: Ejemplo de un "Clic por Parpadeo"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12024360"/>
            <a:ext cx="548640" cy="54864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1196949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8800" y="11887200"/>
            <a:ext cx="5943600" cy="8229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11680" y="12024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Segoe UI"/>
              </a:rPr>
              <a:t>1. Captura Hardware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11680" y="1229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Segoe UI"/>
              </a:rPr>
              <a:t>camera_manager.py lee el frame de OpenCV a 30 FPS sin bloquear la UI.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188720" y="12573000"/>
            <a:ext cx="0" cy="548640"/>
          </a:xfrm>
          <a:prstGeom prst="line">
            <a:avLst/>
          </a:prstGeom>
          <a:ln w="508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14400" y="13487400"/>
            <a:ext cx="548640" cy="54864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1343253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13350240"/>
            <a:ext cx="5943600" cy="8229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11680" y="13487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Segoe UI"/>
              </a:rPr>
              <a:t>2. Detección Facial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11680" y="13761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Segoe UI"/>
              </a:rPr>
              <a:t>facemesh.py usa MediaPipe para extraer las 478 marcas y 52 Blendshapes.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188720" y="14036040"/>
            <a:ext cx="0" cy="548640"/>
          </a:xfrm>
          <a:prstGeom prst="line">
            <a:avLst/>
          </a:prstGeom>
          <a:ln w="508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14400" y="14950440"/>
            <a:ext cx="548640" cy="54864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1489557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828800" y="14813280"/>
            <a:ext cx="5943600" cy="8229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11680" y="14950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Segoe UI"/>
              </a:rPr>
              <a:t>3. Estabilización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11680" y="152247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Segoe UI"/>
              </a:rPr>
              <a:t>one_euro_filter.py elimina el ruido y temblor del movimiento de la cabeza.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188720" y="15499080"/>
            <a:ext cx="0" cy="548640"/>
          </a:xfrm>
          <a:prstGeom prst="line">
            <a:avLst/>
          </a:prstGeom>
          <a:ln w="508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914400" y="16413480"/>
            <a:ext cx="548640" cy="54864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" y="1635861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828800" y="16276320"/>
            <a:ext cx="5943600" cy="8229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11680" y="16413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Segoe UI"/>
              </a:rPr>
              <a:t>4. Evaluación Lógica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11680" y="16687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Segoe UI"/>
              </a:rPr>
              <a:t>facial_event_manager.py verifica si "eyeBlinkLeft" cumple el Dwell Time requerido.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188720" y="16962120"/>
            <a:ext cx="0" cy="548640"/>
          </a:xfrm>
          <a:prstGeom prst="line">
            <a:avLst/>
          </a:prstGeom>
          <a:ln w="508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14400" y="17876520"/>
            <a:ext cx="548640" cy="54864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178216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828800" y="17739360"/>
            <a:ext cx="5943600" cy="8229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11680" y="1787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Segoe UI"/>
              </a:rPr>
              <a:t>5. Inyección Sistema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11680" y="18150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Segoe UI"/>
              </a:rPr>
              <a:t>mouse_controller.py emite un evento "Mouse Click" directamente a Windows.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188720" y="18425160"/>
            <a:ext cx="0" cy="548640"/>
          </a:xfrm>
          <a:prstGeom prst="line">
            <a:avLst/>
          </a:prstGeom>
          <a:ln w="508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914400" y="19339560"/>
            <a:ext cx="548640" cy="54864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4400" y="1928469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828800" y="19202400"/>
            <a:ext cx="5943600" cy="8229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11680" y="19339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Segoe UI"/>
              </a:rPr>
              <a:t>6. Feedback Usuario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11680" y="19613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Segoe UI"/>
              </a:rPr>
              <a:t>bot_overlay.py parpadea o cambia de color en pantalla para confirmar la acción.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0" y="21579840"/>
            <a:ext cx="9144000" cy="365760"/>
          </a:xfrm>
          <a:prstGeom prst="round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" y="216712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Segoe UI"/>
              </a:rPr>
              <a:t>FocuzVoz 3.0 · Infografía Técnica · Todos los módulos se ejecutan en hilos paralelos (ThreadPoolExecutor).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